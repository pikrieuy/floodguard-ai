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4114800" cy="384048"/>
          </a:xfrm>
          <a:prstGeom prst="roundRect">
            <a:avLst/>
          </a:prstGeom>
          <a:solidFill>
            <a:srgbClr val="0F172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8BDF8"/>
                </a:solidFill>
                <a:latin typeface="Helvetica Neue"/>
              </a:defRPr>
            </a:pPr>
            <a:r>
              <a:t>STRATEGIC PITCH DECK · COMP6468031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Helvetica Neue"/>
              </a:defRPr>
            </a:pPr>
            <a:r>
              <a:t>FloodGuard: Reimagining Jakarta's Flood Defense</a:t>
            </a:r>
          </a:p>
          <a:p>
            <a:pPr>
              <a:defRPr sz="1700">
                <a:solidFill>
                  <a:srgbClr val="38BDF8"/>
                </a:solidFill>
                <a:latin typeface="Arial"/>
              </a:defRPr>
            </a:pPr>
            <a:r>
              <a:t>Transforming Ciliwung's 6-Hour Hydrological Lag into Predictive Disaster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429000" cy="16459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3063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34D399"/>
                </a:solidFill>
                <a:latin typeface="Helvetica Neue"/>
              </a:defRPr>
            </a:pPr>
            <a:r>
              <a:t>96.67%</a:t>
            </a:r>
          </a:p>
          <a:p>
            <a:pPr>
              <a:defRPr sz="1050" b="1">
                <a:solidFill>
                  <a:srgbClr val="FFFFFF"/>
                </a:solidFill>
                <a:latin typeface="Helvetica Neue"/>
              </a:defRPr>
            </a:pPr>
            <a:r>
              <a:t>MODEL ACCURACY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Validated on 1,500 BPBD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657600"/>
            <a:ext cx="3429000" cy="16459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3794760"/>
            <a:ext cx="3063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38BDF8"/>
                </a:solidFill>
                <a:latin typeface="Helvetica Neue"/>
              </a:defRPr>
            </a:pPr>
            <a:r>
              <a:t>6 - 9 HOURS</a:t>
            </a:r>
          </a:p>
          <a:p>
            <a:pPr>
              <a:defRPr sz="1050" b="1">
                <a:solidFill>
                  <a:srgbClr val="FFFFFF"/>
                </a:solidFill>
                <a:latin typeface="Helvetica Neue"/>
              </a:defRPr>
            </a:pPr>
            <a:r>
              <a:t>LEAD-TIME WINDOW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Upstream crest to Manggarai travel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3657600"/>
            <a:ext cx="3429000" cy="16459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3794760"/>
            <a:ext cx="3063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B7185"/>
                </a:solidFill>
                <a:latin typeface="Helvetica Neue"/>
              </a:defRPr>
            </a:pPr>
            <a:r>
              <a:t>0% ERROR</a:t>
            </a:r>
          </a:p>
          <a:p>
            <a:pPr>
              <a:defRPr sz="1050" b="1">
                <a:solidFill>
                  <a:srgbClr val="FFFFFF"/>
                </a:solidFill>
                <a:latin typeface="Helvetica Neue"/>
              </a:defRPr>
            </a:pPr>
            <a:r>
              <a:t>CRITICAL FALSE NEGATIVE</a:t>
            </a:r>
          </a:p>
          <a:p>
            <a:pPr>
              <a:defRPr sz="950">
                <a:solidFill>
                  <a:srgbClr val="94A3B8"/>
                </a:solidFill>
                <a:latin typeface="Arial"/>
              </a:defRPr>
            </a:pPr>
            <a:r>
              <a:t>Zero missed flood emergency detections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BINUS UNIVERSITY @BANDUNG · KELAS LB75 · KELOMPOK 2: KEVIN TANARDI, MARCELLO AQUINO TIRTA, USMAN AMANUL VICKRY · DOSEN: DR. IR. SELVI LUKMAN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7185"/>
                </a:solidFill>
                <a:latin typeface="Helvetica Neue"/>
              </a:defRPr>
            </a:pPr>
            <a:r>
              <a:t>01 · THE BURNING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Traditional Flood Warnings Arrive When It's Already Too 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B7185"/>
                </a:solidFill>
                <a:latin typeface="Helvetica Neue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The 119-KM Bottleneck</a:t>
            </a:r>
          </a:p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  <a:latin typeface="Arial"/>
              </a:defRPr>
            </a:pPr>
            <a:r>
              <a:t>Air kiriman dari Puncak/Katulampa butuh waktu 6-9 jam mengalir ke Manggarai, namun pemantauan masih dilakukan secara reaktif per jam.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B7185"/>
                </a:solidFill>
                <a:latin typeface="Helvetica Neue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The Human &amp; Urban Cost</a:t>
            </a:r>
          </a:p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  <a:latin typeface="Arial"/>
              </a:defRPr>
            </a:pPr>
            <a:r>
              <a:t>Lebih dari 150.000 warga di bantaran Kampung Melayu &amp; Bukit Duri hanya menerima peringatan &lt;30 menit sebelum air meluap, memicu kepanikan massal.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B7185"/>
                </a:solidFill>
                <a:latin typeface="Helvetica Neue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The Operational Void</a:t>
            </a:r>
          </a:p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  <a:latin typeface="Arial"/>
              </a:defRPr>
            </a:pPr>
            <a:r>
              <a:t>Petugas pintu air tidak memiliki panduan prediktif objektif kapan harus membuka pintu air Kanal Banjir Barat (KBB) sebelum status menjadi darurat.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Helvetica Neue"/>
              </a:defRPr>
            </a:pPr>
            <a:r>
              <a:t>02 · THE STRATEGIC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The 6-Hour Hydrological Lag Is Not an Obstacle; It Is Our Unfair Advantage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BBF24"/>
                </a:solidFill>
                <a:latin typeface="Helvetica Neue"/>
              </a:defRPr>
            </a:pPr>
            <a:r>
              <a:t>STEP 01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HULU: BENDUNG KATULAMPA (BOGOR)</a:t>
            </a:r>
          </a:p>
          <a:p>
            <a:pPr>
              <a:spcAft>
                <a:spcPts val="1200"/>
              </a:spcAft>
              <a:defRPr sz="1050" b="1">
                <a:solidFill>
                  <a:srgbClr val="FBBF24"/>
                </a:solidFill>
                <a:latin typeface="Arial"/>
              </a:defRPr>
            </a:pPr>
            <a:r>
              <a:t>Elevasi +342 mdpl · Lag Time: t - 6 Jam</a:t>
            </a:r>
          </a:p>
          <a:p>
            <a:pPr>
              <a:lnSpc>
                <a:spcPct val="130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Curah hujan lebat di kawasan Puncak meningkatkan debit air hulu. Sensor merekam lonjakan elevasi 6 jam sebelum gelombang tiba di Jakarta.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  <a:latin typeface="Helvetica Neue"/>
              </a:defRPr>
            </a:pPr>
            <a:r>
              <a:t>STEP 02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TENGAH: POS PANTAU DEPOK</a:t>
            </a:r>
          </a:p>
          <a:p>
            <a:pPr>
              <a:spcAft>
                <a:spcPts val="1200"/>
              </a:spcAft>
              <a:defRPr sz="1050" b="1">
                <a:solidFill>
                  <a:srgbClr val="38BDF8"/>
                </a:solidFill>
                <a:latin typeface="Arial"/>
              </a:defRPr>
            </a:pPr>
            <a:r>
              <a:t>Elevasi +98 mdpl · Lag Time: t - 3 Jam</a:t>
            </a:r>
          </a:p>
          <a:p>
            <a:pPr>
              <a:lnSpc>
                <a:spcPct val="130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Pos verifikasi tengah mengonfirmasi volume debit aliran sungai Ciliwung 3 jam sebelum mencapai pintu air utama hilir.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Helvetica Neue"/>
              </a:defRPr>
            </a:pPr>
            <a:r>
              <a:t>STEP 03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Helvetica Neue"/>
              </a:defRPr>
            </a:pPr>
            <a:r>
              <a:t>HILIR: PINTU AIR MANGGARAI (JAKARTA)</a:t>
            </a:r>
          </a:p>
          <a:p>
            <a:pPr>
              <a:spcAft>
                <a:spcPts val="1200"/>
              </a:spcAft>
              <a:defRPr sz="1050" b="1">
                <a:solidFill>
                  <a:srgbClr val="34D399"/>
                </a:solidFill>
                <a:latin typeface="Arial"/>
              </a:defRPr>
            </a:pPr>
            <a:r>
              <a:t>Elevasi +8 mdpl · Target Prediksi (t = 0)</a:t>
            </a:r>
          </a:p>
          <a:p>
            <a:pPr>
              <a:lnSpc>
                <a:spcPct val="130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AI memproyeksikan status siaga dan estimasi sentimeter air 3 jam lebih cepat, membuka jendela persiapan evakuasi warga.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  <a:latin typeface="Helvetica Neue"/>
              </a:defRPr>
            </a:pPr>
            <a:r>
              <a:t>03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FloodGuard: Intelligent Early Warning &amp; Decision Support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Helvetica Neue"/>
              </a:defRPr>
            </a:pPr>
            <a:r>
              <a:t>PILLAR 01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Predictive Intelligence</a:t>
            </a:r>
          </a:p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  <a:latin typeface="Arial"/>
              </a:defRPr>
            </a:pPr>
            <a:r>
              <a:t>Model Machine Learning Random Forest terlatih pada 1.500 sampel resmi BPBD/BMKG memproyeksikan status siaga dan ketinggian air Manggarai 3 jam di muka.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  <a:latin typeface="Helvetica Neue"/>
              </a:defRPr>
            </a:pPr>
            <a:r>
              <a:t>PILLAR 02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Actionable SOP Engine</a:t>
            </a:r>
          </a:p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  <a:latin typeface="Arial"/>
              </a:defRPr>
            </a:pPr>
            <a:r>
              <a:t>Sistem tidak hanya menyajikan angka, melainkan otomatis menerbitkan instruksi operasional resmi (buka Kanal Banjir Barat, siagakan pompa Waduk Pluit).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BBF24"/>
                </a:solidFill>
                <a:latin typeface="Helvetica Neue"/>
              </a:defRPr>
            </a:pPr>
            <a:r>
              <a:t>PILLAR 03</a:t>
            </a:r>
          </a:p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Helvetica Neue"/>
              </a:defRPr>
            </a:pPr>
            <a:r>
              <a:t>Public Warning Gateway</a:t>
            </a:r>
          </a:p>
          <a:p>
            <a:pPr>
              <a:lnSpc>
                <a:spcPct val="135000"/>
              </a:lnSpc>
              <a:defRPr sz="1200">
                <a:solidFill>
                  <a:srgbClr val="94A3B8"/>
                </a:solidFill>
                <a:latin typeface="Arial"/>
              </a:defRPr>
            </a:pPr>
            <a:r>
              <a:t>Dilengkapi simulator siaran darurat format SMS LBA dan WhatsApp Gateway untuk mengarahkan evakuasi mandiri warga bantaran sungai secara terstruktur.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Helvetica Neue"/>
              </a:defRPr>
            </a:pPr>
            <a:r>
              <a:t>04 ·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From Multi-Station River Telemetry to Real-Time Inference in &lt;10ms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Helvetica Neue"/>
              </a:defRPr>
            </a:pPr>
            <a:r>
              <a:t>Layer 1: Data Ingestion</a:t>
            </a:r>
          </a:p>
          <a:p>
            <a:pPr>
              <a:lnSpc>
                <a:spcPct val="135000"/>
              </a:lnSpc>
              <a:defRPr sz="1150">
                <a:solidFill>
                  <a:srgbClr val="FFFFFF"/>
                </a:solidFill>
                <a:latin typeface="Arial"/>
              </a:defRPr>
            </a:pPr>
            <a:r>
              <a:t>• Katulampa TMA (t - 6 jam)</a:t>
            </a:r>
            <a:br/>
            <a:r>
              <a:t>• Pos Depok TMA (t - 3 jam)</a:t>
            </a:r>
            <a:br/>
            <a:r>
              <a:t>• Curah Hujan Lokal BMKG (mm)</a:t>
            </a:r>
            <a:br/>
            <a:r>
              <a:t>• Durasi Hujan Lebat (jam)</a:t>
            </a:r>
            <a:br/>
            <a:r>
              <a:t>• Modul Fault-Tolerant Imputer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Helvetica Neue"/>
              </a:defRPr>
            </a:pPr>
            <a:r>
              <a:t>Layer 2: AI Inference Engine</a:t>
            </a:r>
          </a:p>
          <a:p>
            <a:pPr>
              <a:lnSpc>
                <a:spcPct val="135000"/>
              </a:lnSpc>
              <a:defRPr sz="1150">
                <a:solidFill>
                  <a:srgbClr val="FFFFFF"/>
                </a:solidFill>
                <a:latin typeface="Arial"/>
              </a:defRPr>
            </a:pPr>
            <a:r>
              <a:t>• Random Forest Classifier (100 Trees)</a:t>
            </a:r>
            <a:br/>
            <a:r>
              <a:t>• Kedalaman maksimal: 8 level</a:t>
            </a:r>
            <a:br/>
            <a:r>
              <a:t>• Kriteria splitting: Gini Impurity</a:t>
            </a:r>
            <a:br/>
            <a:r>
              <a:t>• Waktu eksekusi inferensi: &lt;10 ms</a:t>
            </a:r>
            <a:br/>
            <a:r>
              <a:t>• Serialisasi biner: model_floodguard.joblib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8BDF8"/>
                </a:solidFill>
                <a:latin typeface="Helvetica Neue"/>
              </a:defRPr>
            </a:pPr>
            <a:r>
              <a:t>Layer 3: Delivery &amp; Interaction</a:t>
            </a:r>
          </a:p>
          <a:p>
            <a:pPr>
              <a:lnSpc>
                <a:spcPct val="135000"/>
              </a:lnSpc>
              <a:defRPr sz="1150">
                <a:solidFill>
                  <a:srgbClr val="FFFFFF"/>
                </a:solidFill>
                <a:latin typeface="Arial"/>
              </a:defRPr>
            </a:pPr>
            <a:r>
              <a:t>• REST API Backend (FastAPI / Uvicorn)</a:t>
            </a:r>
            <a:br/>
            <a:r>
              <a:t>• Dribbble Bento Grid UI (Port 8501)</a:t>
            </a:r>
            <a:br/>
            <a:r>
              <a:t>• Leaflet GIS Real-Time Inundation</a:t>
            </a:r>
            <a:br/>
            <a:r>
              <a:t>• Ekspor Log Simulasi Harian (CSV)</a:t>
            </a:r>
            <a:br/>
            <a:r>
              <a:t>• Simulator Notifikasi Darurat BPBD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  <a:latin typeface="Helvetica Neue"/>
              </a:defRPr>
            </a:pPr>
            <a:r>
              <a:t>05 · DATA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96.67% Accuracy Validated on 1,500 Official Records (0% False Negative)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1188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D399"/>
                </a:solidFill>
                <a:latin typeface="Helvetica Neue"/>
              </a:defRPr>
            </a:pPr>
            <a:r>
              <a:t>96.67%</a:t>
            </a:r>
          </a:p>
          <a:p>
            <a:pPr>
              <a:defRPr sz="950" b="1">
                <a:solidFill>
                  <a:srgbClr val="94A3B8"/>
                </a:solidFill>
                <a:latin typeface="Helvetica Neue"/>
              </a:defRPr>
            </a:pPr>
            <a:r>
              <a:t>TEST 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560320" cy="1188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BDF8"/>
                </a:solidFill>
                <a:latin typeface="Helvetica Neue"/>
              </a:defRPr>
            </a:pPr>
            <a:r>
              <a:t>95.67%</a:t>
            </a:r>
          </a:p>
          <a:p>
            <a:pPr>
              <a:defRPr sz="950" b="1">
                <a:solidFill>
                  <a:srgbClr val="94A3B8"/>
                </a:solidFill>
                <a:latin typeface="Helvetica Neue"/>
              </a:defRPr>
            </a:pPr>
            <a:r>
              <a:t>MACRO PRECISION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737360"/>
            <a:ext cx="2560320" cy="1188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82880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B7185"/>
                </a:solidFill>
                <a:latin typeface="Helvetica Neue"/>
              </a:defRPr>
            </a:pPr>
            <a:r>
              <a:t>0.0%</a:t>
            </a:r>
          </a:p>
          <a:p>
            <a:pPr>
              <a:defRPr sz="950" b="1">
                <a:solidFill>
                  <a:srgbClr val="94A3B8"/>
                </a:solidFill>
                <a:latin typeface="Helvetica Neue"/>
              </a:defRPr>
            </a:pPr>
            <a:r>
              <a:t>CRITICAL FALSE NEGATIVE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737360"/>
            <a:ext cx="2560320" cy="11887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828800"/>
            <a:ext cx="228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BBF24"/>
                </a:solidFill>
                <a:latin typeface="Helvetica Neue"/>
              </a:defRPr>
            </a:pPr>
            <a:r>
              <a:t>&lt; 10 ms</a:t>
            </a:r>
          </a:p>
          <a:p>
            <a:pPr>
              <a:defRPr sz="950" b="1">
                <a:solidFill>
                  <a:srgbClr val="94A3B8"/>
                </a:solidFill>
                <a:latin typeface="Helvetica Neue"/>
              </a:defRPr>
            </a:pPr>
            <a:r>
              <a:t>INFERENCE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5212080" cy="31089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375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8BDF8"/>
                </a:solidFill>
                <a:latin typeface="Helvetica Neue"/>
              </a:defRPr>
            </a:pPr>
            <a:r>
              <a:t>Matriks Konfusi Pengujian (300 Sampel Uji Independen):</a:t>
            </a:r>
          </a:p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  <a:latin typeface="Arial"/>
              </a:defRPr>
            </a:pPr>
            <a:r>
              <a:t>• Aktual Normal (223 sampel)  : 221 Terdeteksi Tepat (99.1%)</a:t>
            </a:r>
            <a:br/>
            <a:r>
              <a:t>• Aktual Waspada (49 sampel)  : 41 Terdeteksi Tepat (83.7%)</a:t>
            </a:r>
            <a:br/>
            <a:r>
              <a:t>• Aktual Kritis (28 sampel)   : 28 Terdeteksi Tepat (100.0%!)</a:t>
            </a:r>
            <a:br/>
            <a:br/>
            <a:r>
              <a:t>Jaminan Keselamatan AI (AI Safety):</a:t>
            </a:r>
            <a:br/>
            <a:r>
              <a:t>Tingkat kegagalan deteksi status kritis (False Negative) adalah 0 (NOL KASUS). Seluruh potensi banjir bandang kiriman berhasil ditangkap oleh sistem.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54680"/>
            <a:ext cx="5212080" cy="31089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33756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4D399"/>
                </a:solidFill>
                <a:latin typeface="Helvetica Neue"/>
              </a:defRPr>
            </a:pPr>
            <a:r>
              <a:t>Bobot Penentu Banjir (Feature Importance Random Forest):</a:t>
            </a:r>
          </a:p>
          <a:p>
            <a:pPr>
              <a:lnSpc>
                <a:spcPct val="130000"/>
              </a:lnSpc>
              <a:defRPr sz="1100">
                <a:solidFill>
                  <a:srgbClr val="FFFFFF"/>
                </a:solidFill>
                <a:latin typeface="Arial"/>
              </a:defRPr>
            </a:pPr>
            <a:r>
              <a:t>1. Ketinggian Katulampa (t - 6 jam) : 45.91% (Determinan Utama)</a:t>
            </a:r>
            <a:br/>
            <a:r>
              <a:t>2. Ketinggian Pos Depok (t - 3 jam) : 42.26% (Konfirmasi Aliran)</a:t>
            </a:r>
            <a:br/>
            <a:r>
              <a:t>3. Curah Hujan Lokal Jakarta        :  9.92% (Akumulasi Lokal)</a:t>
            </a:r>
            <a:br/>
            <a:r>
              <a:t>4. Durasi Hujan Lebat               :  1.92% (Saturasi Tanah)</a:t>
            </a:r>
            <a:br/>
            <a:br/>
            <a:r>
              <a:t>Temuan Ilmiah Utama:</a:t>
            </a:r>
            <a:br/>
            <a:r>
              <a:t>Sebesar 88.17% faktor pemicu banjir di Manggarai ditentukan oleh debit kiriman hulu dan tengah, membuktikan keabsahan pendekatan jeda waktu hidrologi.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Helvetica Neue"/>
              </a:defRPr>
            </a:pPr>
            <a:r>
              <a:t>06 · COMPETITIVE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Why Ensemble Random Forest Outperforms Traditional Baseline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94A3B8"/>
                </a:solidFill>
                <a:latin typeface="Helvetica Neue"/>
              </a:defRPr>
            </a:pPr>
            <a:r>
              <a:t>Baseline 1: Logistic Regression</a:t>
            </a:r>
          </a:p>
          <a:p>
            <a:pPr>
              <a:spcAft>
                <a:spcPts val="12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Akurasi Uji: 97.00% · F1-Score: 94.62%</a:t>
            </a:r>
          </a:p>
          <a:p>
            <a:pPr>
              <a:lnSpc>
                <a:spcPct val="135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Kelemahan Kritis:</a:t>
            </a:r>
            <a:br/>
            <a:r>
              <a:t>• Mengasumsikan batas keputusan linier (linear decision boundary).</a:t>
            </a:r>
            <a:br/>
            <a:r>
              <a:t>• Gagal menangkap efek interaksi non-linear antara durasi hujan panjang dengan kejenuhan drainase kota.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94A3B8"/>
                </a:solidFill>
                <a:latin typeface="Helvetica Neue"/>
              </a:defRPr>
            </a:pPr>
            <a:r>
              <a:t>Baseline 2: Single Decision Tree</a:t>
            </a:r>
          </a:p>
          <a:p>
            <a:pPr>
              <a:spcAft>
                <a:spcPts val="12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Akurasi Uji: 95.67% · F1-Score: 91.49%</a:t>
            </a:r>
          </a:p>
          <a:p>
            <a:pPr>
              <a:lnSpc>
                <a:spcPct val="135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Kelemahan Kritis:</a:t>
            </a:r>
            <a:br/>
            <a:r>
              <a:t>• Sangat rentan terhadap overfitting pada data kebencanaan.</a:t>
            </a:r>
            <a:br/>
            <a:r>
              <a:t>• Variansi prediksi tinggi: sedikit pergeseran angka sensor hulu memicu perubahan drastis pada status prediksi.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4D399"/>
                </a:solidFill>
                <a:latin typeface="Helvetica Neue"/>
              </a:defRPr>
            </a:pPr>
            <a:r>
              <a:t>Proposed: Random Forest (100 Trees)</a:t>
            </a:r>
          </a:p>
          <a:p>
            <a:pPr>
              <a:spcAft>
                <a:spcPts val="1200"/>
              </a:spcAft>
              <a:defRPr sz="1050" b="1">
                <a:solidFill>
                  <a:srgbClr val="FFFFFF"/>
                </a:solidFill>
                <a:latin typeface="Arial"/>
              </a:defRPr>
            </a:pPr>
            <a:r>
              <a:t>Akurasi Uji: 96.67% · 5-Fold CV: 95.73% ± 0.57%</a:t>
            </a:r>
          </a:p>
          <a:p>
            <a:pPr>
              <a:lnSpc>
                <a:spcPct val="135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Keunggulan Strategis:</a:t>
            </a:r>
            <a:br/>
            <a:r>
              <a:t>• Menggabungkan 100 pohon keputusan independen (bagging).</a:t>
            </a:r>
            <a:br/>
            <a:r>
              <a:t>• Generalisasi stabil terhadap noise sensor lapangan.</a:t>
            </a:r>
            <a:br/>
            <a:r>
              <a:t>• Menghasilkan 0% False Negative pada status kritis bencana.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Helvetica Neue"/>
              </a:defRPr>
            </a:pPr>
            <a:r>
              <a:t>07 · CORE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Explainable, Fault-Tolerant, and Decision-Centric Artificial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Helvetica Neue"/>
              </a:defRPr>
            </a:pPr>
            <a:r>
              <a:t>INNOVATION 01</a:t>
            </a:r>
          </a:p>
          <a:p>
            <a:pPr>
              <a:spcAft>
                <a:spcPts val="1200"/>
              </a:spcAft>
              <a:defRPr sz="1450" b="1">
                <a:solidFill>
                  <a:srgbClr val="FFFFFF"/>
                </a:solidFill>
                <a:latin typeface="Helvetica Neue"/>
              </a:defRPr>
            </a:pPr>
            <a:r>
              <a:t>Explainable AI (TreeSHAP)</a:t>
            </a:r>
          </a:p>
          <a:p>
            <a:pPr>
              <a:lnSpc>
                <a:spcPct val="135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Membuka transparansi kotak hitam AI. Fitur dekomposisi sentimeter membedah kenaikan air dari baseline 440 cm: Katulampa +123.8 cm (47.3%), Depok +101.4 cm (38.8%), Hujan +36.2 cm (13.9%).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FBBF24"/>
                </a:solidFill>
                <a:latin typeface="Helvetica Neue"/>
              </a:defRPr>
            </a:pPr>
            <a:r>
              <a:t>INNOVATION 02</a:t>
            </a:r>
          </a:p>
          <a:p>
            <a:pPr>
              <a:spcAft>
                <a:spcPts val="1200"/>
              </a:spcAft>
              <a:defRPr sz="1450" b="1">
                <a:solidFill>
                  <a:srgbClr val="FFFFFF"/>
                </a:solidFill>
                <a:latin typeface="Helvetica Neue"/>
              </a:defRPr>
            </a:pPr>
            <a:r>
              <a:t>Fault-Tolerant Imputation</a:t>
            </a:r>
          </a:p>
          <a:p>
            <a:pPr>
              <a:lnSpc>
                <a:spcPct val="135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Jika sensor fisik di Katulampa putus daya atau hanyut terbawa banjir bandang, modul regresi hidrologi otomatis merekonstruksi estimasi debit hulu via pos Depok tanpa memicu sistem crash.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  <a:latin typeface="Helvetica Neue"/>
              </a:defRPr>
            </a:pPr>
            <a:r>
              <a:t>INNOVATION 03</a:t>
            </a:r>
          </a:p>
          <a:p>
            <a:pPr>
              <a:spcAft>
                <a:spcPts val="1200"/>
              </a:spcAft>
              <a:defRPr sz="1450" b="1">
                <a:solidFill>
                  <a:srgbClr val="FFFFFF"/>
                </a:solidFill>
                <a:latin typeface="Helvetica Neue"/>
              </a:defRPr>
            </a:pPr>
            <a:r>
              <a:t>Lead-Time &amp; Inundation Buffer</a:t>
            </a:r>
          </a:p>
          <a:p>
            <a:pPr>
              <a:lnSpc>
                <a:spcPct val="135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Menyajikan hitung mundur waktu tiba gelombang (Lead-Time: 2 Jam 15 Menit) dan buffer spasial risiko luapan di Kampung Melayu, Bidara Cina, dan Bukit Duri secara otomatis.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Helvetica Neue"/>
              </a:defRPr>
            </a:pPr>
            <a:r>
              <a:t>08 · 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Enterprise-Grade Dribbble Bento Grid Dashboard (Live Deployment)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Helvetica Neue"/>
              </a:defRPr>
            </a:pPr>
            <a:r>
              <a:t>Real-Time Telemetry &amp; 3D Visuals</a:t>
            </a:r>
          </a:p>
          <a:p>
            <a:pPr>
              <a:lnSpc>
                <a:spcPct val="130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Antarmuka modern dengan kartu rounded 28px, palet warna pastel mint-peach, dan aset visual cuaca 3D claymorphic yang bertransisi dinamis mengikuti status siaga.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116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Helvetica Neue"/>
              </a:defRPr>
            </a:pPr>
            <a:r>
              <a:t>Interactive Scenario Simulator</a:t>
            </a:r>
          </a:p>
          <a:p>
            <a:pPr>
              <a:lnSpc>
                <a:spcPct val="130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Slider 4 parameter hidrologi real-time dengan tombol preset instan (Kemarau, Hujan Puncak, Banjir Kritis) untuk demonstrasi skenario di hadapan penguji.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32004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063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Helvetica Neue"/>
              </a:defRPr>
            </a:pPr>
            <a:r>
              <a:t>Emergency Broadcast &amp; CSV Export</a:t>
            </a:r>
          </a:p>
          <a:p>
            <a:pPr>
              <a:lnSpc>
                <a:spcPct val="130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Simulator notifikasi darurat SMS LBA / WhatsApp Gateway BPBD dan tombol satu klik untuk mengunduh log riwayat prediksi ke format CSV.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698480" cy="9144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Helvetica Neue"/>
              </a:defRPr>
            </a:pPr>
            <a:r>
              <a:t>🌐 LIVE CLOUD DEPLOYMENT (DEDICATED VPS IP): http://43.134.118.130/floodguard/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Kode sumber terbuka resmi (Open-Source GitHub): https://github.com/pikrieuy/floodguard-ai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  <a:latin typeface="Helvetica Neue"/>
              </a:defRPr>
            </a:pPr>
            <a:r>
              <a:t>09 · STRATEGIC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Saving Lives and Enhancing Urban Resilience (UN SDG 11 Alignment)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Helvetica Neue"/>
              </a:defRPr>
            </a:pPr>
            <a:r>
              <a:t>PILLAR 01</a:t>
            </a:r>
          </a:p>
          <a:p>
            <a:pPr>
              <a:spcAft>
                <a:spcPts val="1200"/>
              </a:spcAft>
              <a:defRPr sz="1450" b="1">
                <a:solidFill>
                  <a:srgbClr val="FFFFFF"/>
                </a:solidFill>
                <a:latin typeface="Helvetica Neue"/>
              </a:defRPr>
            </a:pPr>
            <a:r>
              <a:t>SDG 11: Sustainable Cities</a:t>
            </a:r>
          </a:p>
          <a:p>
            <a:pPr>
              <a:lnSpc>
                <a:spcPct val="135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Mendukung target pengurangan dampak bencana banjir bagi 150.000+ jiwa warga di sepanjang bantaran Sungai Ciliwung DKI Jakarta.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Helvetica Neue"/>
              </a:defRPr>
            </a:pPr>
            <a:r>
              <a:t>PILLAR 02</a:t>
            </a:r>
          </a:p>
          <a:p>
            <a:pPr>
              <a:spcAft>
                <a:spcPts val="1200"/>
              </a:spcAft>
              <a:defRPr sz="1450" b="1">
                <a:solidFill>
                  <a:srgbClr val="FFFFFF"/>
                </a:solidFill>
                <a:latin typeface="Helvetica Neue"/>
              </a:defRPr>
            </a:pPr>
            <a:r>
              <a:t>Economic &amp; Asset Protection</a:t>
            </a:r>
          </a:p>
          <a:p>
            <a:pPr>
              <a:lnSpc>
                <a:spcPct val="135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Menyediakan jendela waktu evakuasi aman 1,5 jam lebih awal guna menyelamatkan aset berharga, dokumen kependudukan, dan logistik warga.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2103120"/>
            <a:ext cx="2971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4D399"/>
                </a:solidFill>
                <a:latin typeface="Helvetica Neue"/>
              </a:defRPr>
            </a:pPr>
            <a:r>
              <a:t>PILLAR 03</a:t>
            </a:r>
          </a:p>
          <a:p>
            <a:pPr>
              <a:spcAft>
                <a:spcPts val="1200"/>
              </a:spcAft>
              <a:defRPr sz="1450" b="1">
                <a:solidFill>
                  <a:srgbClr val="FFFFFF"/>
                </a:solidFill>
                <a:latin typeface="Helvetica Neue"/>
              </a:defRPr>
            </a:pPr>
            <a:r>
              <a:t>Human-in-the-Loop AI Ethics</a:t>
            </a:r>
          </a:p>
          <a:p>
            <a:pPr>
              <a:lnSpc>
                <a:spcPct val="135000"/>
              </a:lnSpc>
              <a:defRPr sz="1150">
                <a:solidFill>
                  <a:srgbClr val="94A3B8"/>
                </a:solidFill>
                <a:latin typeface="Arial"/>
              </a:defRPr>
            </a:pPr>
            <a:r>
              <a:t>Sistem dirancang sebagai Decision Support System (bukan auto-pilot pintu air fisik penuh) untuk menjamin akuntabilitas moral petugas posko.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Helvetica Neue"/>
              </a:defRPr>
            </a:pPr>
            <a:r>
              <a:t>10 · 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From Research Prototype to Production Decision Support (4-Week Sprint)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  <a:latin typeface="Helvetica Neue"/>
              </a:defRPr>
            </a:pPr>
            <a:r>
              <a:t>PHASE 01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Week 1: Data Ingestion</a:t>
            </a:r>
          </a:p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  <a:latin typeface="Arial"/>
              </a:defRPr>
            </a:pPr>
            <a:r>
              <a:t>✅ Selesai</a:t>
            </a:r>
            <a:br/>
            <a:r>
              <a:t>• Scraping data BPBD &amp; BMKG</a:t>
            </a:r>
            <a:br/>
            <a:r>
              <a:t>• Data cleaning 1.500 sampel</a:t>
            </a:r>
            <a:br/>
            <a:r>
              <a:t>• Rekayasa fitur lag-window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  <a:latin typeface="Helvetica Neue"/>
              </a:defRPr>
            </a:pPr>
            <a:r>
              <a:t>PHASE 02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Week 2: Model Training</a:t>
            </a:r>
          </a:p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  <a:latin typeface="Arial"/>
              </a:defRPr>
            </a:pPr>
            <a:r>
              <a:t>✅ Selesai</a:t>
            </a:r>
            <a:br/>
            <a:r>
              <a:t>• Training Random Forest 100 Tree</a:t>
            </a:r>
            <a:br/>
            <a:r>
              <a:t>• Validasi 5-Fold Cross Validation</a:t>
            </a:r>
            <a:br/>
            <a:r>
              <a:t>• Baseline model comparison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  <a:latin typeface="Helvetica Neue"/>
              </a:defRPr>
            </a:pPr>
            <a:r>
              <a:t>PHASE 03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Week 3: Web MVP &amp; XAI</a:t>
            </a:r>
          </a:p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  <a:latin typeface="Arial"/>
              </a:defRPr>
            </a:pPr>
            <a:r>
              <a:t>✅ Selesai</a:t>
            </a:r>
            <a:br/>
            <a:r>
              <a:t>• Dribbble Bento Grid UI</a:t>
            </a:r>
            <a:br/>
            <a:r>
              <a:t>• Cloud deployment VPS Linux</a:t>
            </a:r>
            <a:br/>
            <a:r>
              <a:t>• Leaflet GIS &amp; TreeSHAP XAI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560320" cy="4389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210312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  <a:latin typeface="Helvetica Neue"/>
              </a:defRPr>
            </a:pPr>
            <a:r>
              <a:t>PHASE 04</a:t>
            </a:r>
          </a:p>
          <a:p>
            <a:pPr>
              <a:spcAft>
                <a:spcPts val="1200"/>
              </a:spcAft>
              <a:defRPr sz="1350" b="1">
                <a:solidFill>
                  <a:srgbClr val="FFFFFF"/>
                </a:solidFill>
                <a:latin typeface="Helvetica Neue"/>
              </a:defRPr>
            </a:pPr>
            <a:r>
              <a:t>Week 4: Final Evaluation</a:t>
            </a:r>
          </a:p>
          <a:p>
            <a:pPr>
              <a:lnSpc>
                <a:spcPct val="135000"/>
              </a:lnSpc>
              <a:defRPr sz="1100">
                <a:solidFill>
                  <a:srgbClr val="94A3B8"/>
                </a:solidFill>
                <a:latin typeface="Arial"/>
              </a:defRPr>
            </a:pPr>
            <a:r>
              <a:t>🚀 Siap Eksekusi</a:t>
            </a:r>
            <a:br/>
            <a:r>
              <a:t>• Live demo presentasi ke dosen</a:t>
            </a:r>
            <a:br/>
            <a:r>
              <a:t>• Uji skenario interaktif</a:t>
            </a:r>
            <a:br/>
            <a:r>
              <a:t>• Pengumpulan laporan 16 bab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347472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  <a:latin typeface="Helvetica Neue"/>
              </a:defRPr>
            </a:pPr>
            <a:r>
              <a:t>12 · CONCLUSION &amp; TEAM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FloodGuard: Ready for Live System Demonstration and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29000" cy="3429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632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FFFFFF"/>
                </a:solidFill>
                <a:latin typeface="Helvetica Neue"/>
              </a:defRPr>
            </a:pPr>
            <a:r>
              <a:t>Kevin Tanardi</a:t>
            </a:r>
          </a:p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NIM: 2902574630</a:t>
            </a:r>
          </a:p>
          <a:p>
            <a:pPr>
              <a:spcAft>
                <a:spcPts val="800"/>
              </a:spcAft>
              <a:defRPr sz="950" b="1">
                <a:solidFill>
                  <a:srgbClr val="FBBF24"/>
                </a:solidFill>
                <a:latin typeface="Helvetica Neue"/>
              </a:defRPr>
            </a:pPr>
            <a:r>
              <a:t>[MACHINE LEARNING LEAD]</a:t>
            </a:r>
          </a:p>
          <a:p>
            <a:pPr>
              <a:lnSpc>
                <a:spcPct val="130000"/>
              </a:lnSpc>
              <a:defRPr sz="1050">
                <a:solidFill>
                  <a:srgbClr val="94A3B8"/>
                </a:solidFill>
                <a:latin typeface="Arial"/>
              </a:defRPr>
            </a:pPr>
            <a:r>
              <a:t>• Ekstraksi dan pra-pemrosesan 1.500 sampel data BPBD &amp; BMKG.</a:t>
            </a:r>
            <a:br/>
            <a:r>
              <a:t>• Pelatihan model Random Forest (100 Decision Trees).</a:t>
            </a:r>
            <a:br/>
            <a:r>
              <a:t>• Validasi keandalan model via 5-Fold Cross Validation (95.73%).</a:t>
            </a:r>
            <a:br/>
            <a:r>
              <a:t>• Analisis feature importance: Katulampa 45.91%, Depok 42.26%.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83080"/>
            <a:ext cx="3429000" cy="3429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20240"/>
            <a:ext cx="30632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FFFFFF"/>
                </a:solidFill>
                <a:latin typeface="Helvetica Neue"/>
              </a:defRPr>
            </a:pPr>
            <a:r>
              <a:t>Marcello Aquino Tirta</a:t>
            </a:r>
          </a:p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NIM: 2902696842</a:t>
            </a:r>
          </a:p>
          <a:p>
            <a:pPr>
              <a:spcAft>
                <a:spcPts val="800"/>
              </a:spcAft>
              <a:defRPr sz="950" b="1">
                <a:solidFill>
                  <a:srgbClr val="FBBF24"/>
                </a:solidFill>
                <a:latin typeface="Helvetica Neue"/>
              </a:defRPr>
            </a:pPr>
            <a:r>
              <a:t>[ACADEMIC &amp; AI SAFETY LEAD]</a:t>
            </a:r>
          </a:p>
          <a:p>
            <a:pPr>
              <a:lnSpc>
                <a:spcPct val="130000"/>
              </a:lnSpc>
              <a:defRPr sz="1050">
                <a:solidFill>
                  <a:srgbClr val="94A3B8"/>
                </a:solidFill>
                <a:latin typeface="Arial"/>
              </a:defRPr>
            </a:pPr>
            <a:r>
              <a:t>• Penulisan naskah laporan ilmiah 16 bab format PKM-KC.</a:t>
            </a:r>
            <a:br/>
            <a:r>
              <a:t>• Kajian etika AI &amp; mitigasi bias spasial sensor sungai.</a:t>
            </a:r>
            <a:br/>
            <a:r>
              <a:t>• Perumusan jaminan 0% False Negative pada status kritis bencana.</a:t>
            </a:r>
            <a:br/>
            <a:r>
              <a:t>• Penyusunan formulir deklarasi penggunaan Generative AI resmi.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783080"/>
            <a:ext cx="3429000" cy="3429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20240"/>
            <a:ext cx="306324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50" b="1">
                <a:solidFill>
                  <a:srgbClr val="FFFFFF"/>
                </a:solidFill>
                <a:latin typeface="Helvetica Neue"/>
              </a:defRPr>
            </a:pPr>
            <a:r>
              <a:t>Usman Amanul Vickry</a:t>
            </a:r>
          </a:p>
          <a:p>
            <a:pPr>
              <a:defRPr sz="1100" b="1">
                <a:solidFill>
                  <a:srgbClr val="38BDF8"/>
                </a:solidFill>
                <a:latin typeface="Arial"/>
              </a:defRPr>
            </a:pPr>
            <a:r>
              <a:t>NIM: 2902690510</a:t>
            </a:r>
          </a:p>
          <a:p>
            <a:pPr>
              <a:spcAft>
                <a:spcPts val="800"/>
              </a:spcAft>
              <a:defRPr sz="950" b="1">
                <a:solidFill>
                  <a:srgbClr val="FBBF24"/>
                </a:solidFill>
                <a:latin typeface="Helvetica Neue"/>
              </a:defRPr>
            </a:pPr>
            <a:r>
              <a:t>[CLOUD SYSTEM ARCHITECT &amp; PRESENTER]</a:t>
            </a:r>
          </a:p>
          <a:p>
            <a:pPr>
              <a:lnSpc>
                <a:spcPct val="130000"/>
              </a:lnSpc>
              <a:defRPr sz="1050">
                <a:solidFill>
                  <a:srgbClr val="94A3B8"/>
                </a:solidFill>
                <a:latin typeface="Arial"/>
              </a:defRPr>
            </a:pPr>
            <a:r>
              <a:t>• Arsitektur antarmuka modern Dribbble Bento Grid UI (FastAPI).</a:t>
            </a:r>
            <a:br/>
            <a:r>
              <a:t>• Integrasi Explainable AI (TreeSHAP) &amp; Fault-Tolerant auto-imputer.</a:t>
            </a:r>
            <a:br/>
            <a:r>
              <a:t>• Deployment cloud server VPS Linux mandiri (Port 8501).</a:t>
            </a:r>
            <a:br/>
            <a:r>
              <a:t>• Pemimpin sesi presentasi dan demonstrasi skenario interaktif.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698480" cy="105156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1033272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B132B"/>
                </a:solidFill>
                <a:latin typeface="Helvetica Neue"/>
              </a:defRPr>
            </a:pPr>
            <a:r>
              <a:t>BUKA DEMONSTRASI APLIKASI WEB LIVE → http://43.134.118.130/floodguard/</a:t>
            </a:r>
          </a:p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Sistem telah aktif 24/7 di server cloud VPS dan siap diuji seluruh skenario simulasinya di depan dewan penguji.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